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42BD4F-2C0F-4089-8C61-26F1BCF05797}">
  <a:tblStyle styleId="{5942BD4F-2C0F-4089-8C61-26F1BCF057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3.png"/><Relationship Id="rId13" Type="http://schemas.openxmlformats.org/officeDocument/2006/relationships/image" Target="../media/image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67075" y="1990725"/>
            <a:ext cx="5657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REKAYASA PERANGKAT LUNAK II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25628" y="2476500"/>
            <a:ext cx="5940742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SISTEM INFORMASI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MANAJEMEN HOTEL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67075" y="4381500"/>
            <a:ext cx="5657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Oleh: Kelompok Anomali Raja Sawit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DIAGRAM KONTEKS: BATASAN SISTEM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4001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Matriks aliran data sistem dengan 4 entitas eksternal yang mendefinisikan batas operasional sistem hotel.</a:t>
            </a:r>
            <a:endParaRPr/>
          </a:p>
        </p:txBody>
      </p:sp>
      <p:graphicFrame>
        <p:nvGraphicFramePr>
          <p:cNvPr id="96" name="Google Shape;96;p14"/>
          <p:cNvGraphicFramePr/>
          <p:nvPr/>
        </p:nvGraphicFramePr>
        <p:xfrm>
          <a:off x="571500" y="1771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{5942BD4F-2C0F-4089-8C61-26F1BCF05797}</a:tableStyleId>
              </a:tblPr>
              <a:tblGrid>
                <a:gridCol w="2091025"/>
                <a:gridCol w="4411425"/>
                <a:gridCol w="454655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Entitas Luar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Input (Masuk ke Sistem)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Output (Diterima dari Sistem)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TAMU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Identitas Tamu, Kriteria Kamar, Bukti Bayar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 Kamar Tersedia, Struk Reservasi Resmi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RESEPSIONIS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Check-in/Out, Update Status 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Detail Reservasi Tamu, Info Kamar Kotor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Master Kamar &amp; Pegawai, Minta Laporan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Update Data Master, Laporan Pendapatan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HOUSEKEEPING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Konfirmasi Kamar Bersih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Daftar Kamar Kotor (Manifes Kebersihan)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4"/>
          <p:cNvSpPr/>
          <p:nvPr/>
        </p:nvSpPr>
        <p:spPr>
          <a:xfrm>
            <a:off x="571500" y="2795587"/>
            <a:ext cx="2091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662535" y="2795587"/>
            <a:ext cx="4411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073949" y="2795587"/>
            <a:ext cx="4546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3300412"/>
            <a:ext cx="2091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662535" y="3300412"/>
            <a:ext cx="4411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073949" y="3300412"/>
            <a:ext cx="4546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3805237"/>
            <a:ext cx="2091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662535" y="3805237"/>
            <a:ext cx="4411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073949" y="3805237"/>
            <a:ext cx="4546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4310062"/>
            <a:ext cx="2091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662535" y="4310062"/>
            <a:ext cx="4411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073949" y="4310062"/>
            <a:ext cx="4546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52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41052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0" y="4105275"/>
            <a:ext cx="35242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DFD LEVEL 0: 5 PROSES UTAMA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1.0 Kelola Kamar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Sinkronisasi data master inventaris kamar (tipe, harga, fasilitas) antara Admin dan penyimpanan D1.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29150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2.0 Reservasi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29150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Manajemen pemesanan tamu melalui pengecekan stok kamar real-time dan pencatatan transaksi di D2.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91525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3.0 Check-in / Out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91525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Modul registrasi kedatangan dan kepulangan tamu serta pencatatan keuangan harian di D3.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66775" y="50482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4.0 Kebersihan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66775" y="54768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Alur kerja housekeeping untuk memperbarui status sanitasi kamar dari 'Kotor' menjadi 'Tersedia' di D4.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29150" y="50482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5.0 Laporan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29150" y="54768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Kompilasi data agregat dari seluruh tabel (D1-D4) untuk menghasilkan luaran manajerial eksekutif.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91525" y="50482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Integritas D1-D4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91525" y="54768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Memastikan konsistensi data antar tabel relasional melalui kunci utama (Primary Key) yang unik.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1733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9150" y="17335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1525" y="17335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4386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29150" y="4438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91525" y="4438650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762000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DFD LEVEL 1: RESERVASI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7620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159067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Dekomposisi mikro proses 2.0 untuk menjamin alur transaksi yang valid.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6750" y="2371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237172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2.1 Cek Ketersediaan: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Validasi stok kamar di tabel D1 sebelum konfirmasi booking.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6750" y="3076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307657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2.2 Input Data Tamu: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Perekaman identitas lengkap dan detail menginap ke tabel D2 (Status: Pending).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6750" y="3781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378142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2.3 Proses Bayar: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Verifikasi keuangan dan pembaruan status reservasi menjadi Lunas/Confirm.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USE CASE: INTERAKSI &amp; TUJUAN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14001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Matriks fungsionalitas aktor yang mendefinisikan interaksi langsung dengan batasan sistem.</a:t>
            </a:r>
            <a:endParaRPr/>
          </a:p>
        </p:txBody>
      </p:sp>
      <p:graphicFrame>
        <p:nvGraphicFramePr>
          <p:cNvPr id="163" name="Google Shape;163;p17"/>
          <p:cNvGraphicFramePr/>
          <p:nvPr/>
        </p:nvGraphicFramePr>
        <p:xfrm>
          <a:off x="571500" y="1771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{5942BD4F-2C0F-4089-8C61-26F1BCF05797}</a:tableStyleId>
              </a:tblPr>
              <a:tblGrid>
                <a:gridCol w="1909175"/>
                <a:gridCol w="4040100"/>
                <a:gridCol w="509975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Aktor Utama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Case (Fungsionalitas) Utama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Tujuan Interaksi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TAMU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Pesan 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Melakukan reservasi kamar secara mandiri atau via staf.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RESEPSIONIS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Check-In / Out, Login/Logout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Mengelola tamu datang, pergi, dan akses portal internal.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Kelola Master, Lihat Laporan, Login/Logout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Pengawasan manajerial dan konfigurasi sistem inti.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HOUSEKEEPING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Update Kebersihan, Login/Logout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Sinkronisasi status kebersihan kamar di lapangan.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7"/>
          <p:cNvSpPr/>
          <p:nvPr/>
        </p:nvSpPr>
        <p:spPr>
          <a:xfrm>
            <a:off x="571500" y="2795587"/>
            <a:ext cx="190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480667" y="2795587"/>
            <a:ext cx="4040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520755" y="2795587"/>
            <a:ext cx="5099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3300412"/>
            <a:ext cx="190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480667" y="3300412"/>
            <a:ext cx="4040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520755" y="3300412"/>
            <a:ext cx="5099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3805237"/>
            <a:ext cx="190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480667" y="3805237"/>
            <a:ext cx="4040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520755" y="3805237"/>
            <a:ext cx="5099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71500" y="4310062"/>
            <a:ext cx="190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480667" y="4310062"/>
            <a:ext cx="4040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520755" y="4310062"/>
            <a:ext cx="5099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KEAMANAN: RELASI &lt;&gt;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4648200" y="140017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648200" y="2543175"/>
            <a:ext cx="2895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Internal Auth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624012" y="3491358"/>
            <a:ext cx="93911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Otentikasi Berlapis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624012" y="3767583"/>
            <a:ext cx="8943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menerapkan keamanan berbasis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&lt;  &gt;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pada diagram Use Case.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719262" y="417715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814512" y="4177158"/>
            <a:ext cx="875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Guna mengakses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Check-In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Laporan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atau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Update Kebersihan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sistem mewajibkan (include) fungsionalitas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Login Sistem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719262" y="452958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814512" y="4529583"/>
            <a:ext cx="875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 ini menjamin integritas data operasional dan membatasi akses ilegal oleh pihak luar.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ARSITEKTUR DATA STORE (D1-D4)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14001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Penyimpanan data sistematis yang mendukung integritas relasional database.</a:t>
            </a:r>
            <a:endParaRPr/>
          </a:p>
        </p:txBody>
      </p:sp>
      <p:graphicFrame>
        <p:nvGraphicFramePr>
          <p:cNvPr id="199" name="Google Shape;199;p19"/>
          <p:cNvGraphicFramePr/>
          <p:nvPr/>
        </p:nvGraphicFramePr>
        <p:xfrm>
          <a:off x="571500" y="1771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{5942BD4F-2C0F-4089-8C61-26F1BCF05797}</a:tableStyleId>
              </a:tblPr>
              <a:tblGrid>
                <a:gridCol w="1798300"/>
                <a:gridCol w="2488850"/>
                <a:gridCol w="676185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Nama Tabel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Deskripsi Konten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Inventaris fisik, tipe kamar, tarif, dan spesifikasi fasilitas.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RESERVASI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pemesanan, jadwal menginap tamu, dan status pembayaran.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TRANSAKSI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Rekaman finansial check-in/out dan pendapatan harian.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KEBERSIHAN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pemeliharaan dan status sanitasi kamar per lantai.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19"/>
          <p:cNvSpPr/>
          <p:nvPr/>
        </p:nvSpPr>
        <p:spPr>
          <a:xfrm>
            <a:off x="571500" y="2795587"/>
            <a:ext cx="179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369790" y="2795587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858642" y="2795587"/>
            <a:ext cx="676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71500" y="3300412"/>
            <a:ext cx="179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369790" y="3300412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858642" y="3300412"/>
            <a:ext cx="676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3805237"/>
            <a:ext cx="179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2369790" y="3805237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858642" y="3805237"/>
            <a:ext cx="676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1500" y="4310062"/>
            <a:ext cx="179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369790" y="4310062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858642" y="4310062"/>
            <a:ext cx="676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SKEMA BASIS DATA TERPILIH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14001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Optimasi struktur tabel relasional yang telah melewati tahap normalisasi teknis.</a:t>
            </a:r>
            <a:endParaRPr/>
          </a:p>
        </p:txBody>
      </p:sp>
      <p:graphicFrame>
        <p:nvGraphicFramePr>
          <p:cNvPr id="220" name="Google Shape;220;p20"/>
          <p:cNvGraphicFramePr/>
          <p:nvPr/>
        </p:nvGraphicFramePr>
        <p:xfrm>
          <a:off x="571500" y="1771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{5942BD4F-2C0F-4089-8C61-26F1BCF05797}</a:tableStyleId>
              </a:tblPr>
              <a:tblGrid>
                <a:gridCol w="2337950"/>
                <a:gridCol w="2320525"/>
                <a:gridCol w="3480950"/>
                <a:gridCol w="290960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Tabel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Field Kunci / Unik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Tipe Data Kritis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tabel_kamar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No_kamar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Tipe_Kamar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 / Varchar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tabel_tamu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Id_Tamu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No_KTP (Unique)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Varchar (No_Telfon)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tabel_reservasi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Id_Reservasi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Id_Tamu, No_Kamar (FK)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Date, Numeric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tabel_staf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Id_Pegawai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Varchar (Password)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20"/>
          <p:cNvSpPr/>
          <p:nvPr/>
        </p:nvSpPr>
        <p:spPr>
          <a:xfrm>
            <a:off x="571500" y="2795587"/>
            <a:ext cx="2337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909441" y="2795587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229969" y="2795587"/>
            <a:ext cx="3480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710910" y="2795587"/>
            <a:ext cx="2909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71500" y="3300412"/>
            <a:ext cx="2337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909441" y="3300412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229969" y="3300412"/>
            <a:ext cx="3480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8710910" y="3300412"/>
            <a:ext cx="2909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71500" y="3805237"/>
            <a:ext cx="2337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909441" y="3805237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229969" y="3805237"/>
            <a:ext cx="3480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710910" y="3805237"/>
            <a:ext cx="2909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1500" y="4310062"/>
            <a:ext cx="2337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909441" y="4310062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229969" y="4310062"/>
            <a:ext cx="3480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710910" y="4310062"/>
            <a:ext cx="2909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INTEGRITAS DATA &amp; VALIDASI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4630400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5582900" y="2119312"/>
            <a:ext cx="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Revisi Teknis Database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5582900" y="2671762"/>
            <a:ext cx="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Mencegah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Anomali Data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melalui koreksi tipe data: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5868650" y="3595687"/>
            <a:ext cx="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5963900" y="3595687"/>
            <a:ext cx="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Varchar No_Telfon: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Menghindari hilangnya angka nol di depan nomor kontak (masalah krusial pada tipe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numeric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5868650" y="6310312"/>
            <a:ext cx="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15963900" y="6310312"/>
            <a:ext cx="0" cy="547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Varchar Password: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Memungkinkan enkripsi hash string untuk keamanan tingkat tinggi.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5868650" y="825341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5963900" y="825341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Pemisahan Tabel: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Tabel 'Tamu' dan 'Reservasi' dipisah untuk menjaga Normalisasi 3NF.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400175"/>
            <a:ext cx="35242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SINERGI ALUR &amp; FUNGSI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866775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Sinkronisasi DFD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66775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Memastikan setiap arus data memiliki tujuan yang jelas (Source to Sink) tanpa adanya proses yang terisolasi.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629150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Validasi Use Case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629150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Menyelaraskan fungsionalitas proses DFD dengan hak akses aktor di dalam Use Case Diagram.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8391525" y="2343150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Optimasi Server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391525" y="2771775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Struktur database dirancang untuk mendukung ribuan transaksi harian tanpa degradasi performa.</a:t>
            </a:r>
            <a:endParaRPr/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33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17335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17335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DAMPAK STRATEGIS SISTEM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4814887" y="1400175"/>
            <a:ext cx="2562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24/7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4814887" y="2543175"/>
            <a:ext cx="2562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Real-time Ops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2376487" y="3491358"/>
            <a:ext cx="781097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Kesimpulan Proyek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2376487" y="3767583"/>
            <a:ext cx="7439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Informasi Manajemen Hotel Anomali Raja Sawit menawarkan efisiensi operasional maksimal: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2471737" y="417715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2566987" y="4177158"/>
            <a:ext cx="7248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Otomatisasi pembaruan status kamar mengurangi beban kerja manual hingga 60%.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471737" y="452958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566987" y="4529583"/>
            <a:ext cx="7248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Pelaporan pendapatan yang instan mendukung pengambilan keputusan manajerial yang akurat.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2471737" y="488200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2566987" y="4882008"/>
            <a:ext cx="7248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Keamanan data staf dan tamu terjamin melalui enkripsi dan otentikasi login yang ketat.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5319712"/>
            <a:ext cx="3810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1595437" y="1976437"/>
            <a:ext cx="90011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DISKUSI &amp; TANYA JAWAB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2714625" y="4452937"/>
            <a:ext cx="6762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Terima kasih atas perhatian Anda dalam presentasi teknis kami.</a:t>
            </a:r>
            <a:endParaRPr/>
          </a:p>
        </p:txBody>
      </p:sp>
      <p:pic>
        <p:nvPicPr>
          <p:cNvPr descr="image.png" id="297" name="Google Shape;2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957262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14001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2171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29432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2162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71500" y="2162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1666875" y="15501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https://media.geeksforgeeks.org/wp-content/uploads/20250304153519827498/Data-Flow-Diagram.webp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666875" y="17835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17" name="Google Shape;3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4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1666875" y="2321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https://infraspec.co.uk/wp-content/uploads/2026/03/v2-1amhzo-m4r89.jpg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1666875" y="2555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infraspec.co.uk</a:t>
            </a:r>
            <a:endParaRPr/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1666875" y="3086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https://png.pngtree.com/thumb_back/fh260/background/20251011/pngtree-futuristic-digital-interface-for-cybersecurity-displaying-system-hack-and-access-denied-image_19831437.webp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666875" y="3505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323" name="Google Shape;32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14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1666875" y="40290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https://media.istockphoto.com/id/1488105094/photo/internet-cyber-security-concept-digital-shield-firewall-protection-from-viruses-and-malware.jpg?s=612x612&amp;w=0&amp;k=20&amp;c=gpHpkX3oiiUAdARo4wFiok3pr6SeMiGrGHHaFeobeIA=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666875" y="44481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